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Raleway Bold" charset="1" panose="020B0803030101060003"/>
      <p:regular r:id="rId23"/>
    </p:embeddedFont>
    <p:embeddedFont>
      <p:font typeface="Raleway" charset="1" panose="020B0503030101060003"/>
      <p:regular r:id="rId24"/>
    </p:embeddedFont>
    <p:embeddedFont>
      <p:font typeface="Open Sans Bold" charset="1" panose="020B0806030504020204"/>
      <p:regular r:id="rId25"/>
    </p:embeddedFont>
    <p:embeddedFont>
      <p:font typeface="Open Sans" charset="1" panose="020B0606030504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143500"/>
            <a:chOff x="0" y="0"/>
            <a:chExt cx="4816593" cy="13546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354667"/>
            </a:xfrm>
            <a:custGeom>
              <a:avLst/>
              <a:gdLst/>
              <a:ahLst/>
              <a:cxnLst/>
              <a:rect r="r" b="b" t="t" l="l"/>
              <a:pathLst>
                <a:path h="135466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25486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1392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43552" y="843381"/>
            <a:ext cx="13194804" cy="3939286"/>
            <a:chOff x="0" y="0"/>
            <a:chExt cx="3475175" cy="10375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75175" cy="1037507"/>
            </a:xfrm>
            <a:custGeom>
              <a:avLst/>
              <a:gdLst/>
              <a:ahLst/>
              <a:cxnLst/>
              <a:rect r="r" b="b" t="t" l="l"/>
              <a:pathLst>
                <a:path h="1037507" w="3475175">
                  <a:moveTo>
                    <a:pt x="0" y="0"/>
                  </a:moveTo>
                  <a:lnTo>
                    <a:pt x="3475175" y="0"/>
                  </a:lnTo>
                  <a:lnTo>
                    <a:pt x="3475175" y="1037507"/>
                  </a:lnTo>
                  <a:lnTo>
                    <a:pt x="0" y="10375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42875"/>
              <a:ext cx="3475175" cy="1180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9"/>
                </a:lnSpc>
              </a:pPr>
              <a:r>
                <a:rPr lang="en-US" b="true" sz="6999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CIE</a:t>
              </a:r>
              <a:r>
                <a:rPr lang="en-US" b="true" sz="6999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NCIA DE DATOS - SOLUCIÓN PARA HORIZONTE INMOBILIARIA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26046" y="5399921"/>
            <a:ext cx="4035011" cy="4035011"/>
          </a:xfrm>
          <a:custGeom>
            <a:avLst/>
            <a:gdLst/>
            <a:ahLst/>
            <a:cxnLst/>
            <a:rect r="r" b="b" t="t" l="l"/>
            <a:pathLst>
              <a:path h="4035011" w="4035011">
                <a:moveTo>
                  <a:pt x="0" y="0"/>
                </a:moveTo>
                <a:lnTo>
                  <a:pt x="4035012" y="0"/>
                </a:lnTo>
                <a:lnTo>
                  <a:pt x="4035012" y="4035012"/>
                </a:lnTo>
                <a:lnTo>
                  <a:pt x="0" y="40350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995181" y="6092658"/>
            <a:ext cx="4297638" cy="257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2"/>
              </a:lnSpc>
            </a:pPr>
            <a:r>
              <a:rPr lang="en-US" sz="293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Presented by</a:t>
            </a:r>
          </a:p>
          <a:p>
            <a:pPr algn="ctr">
              <a:lnSpc>
                <a:spcPts val="4112"/>
              </a:lnSpc>
            </a:pPr>
            <a:r>
              <a:rPr lang="en-US" sz="293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Nicolás Amarilla</a:t>
            </a:r>
          </a:p>
          <a:p>
            <a:pPr algn="ctr">
              <a:lnSpc>
                <a:spcPts val="4112"/>
              </a:lnSpc>
            </a:pPr>
            <a:r>
              <a:rPr lang="en-US" sz="293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Nicolás Djandjikian</a:t>
            </a:r>
          </a:p>
          <a:p>
            <a:pPr algn="ctr">
              <a:lnSpc>
                <a:spcPts val="4112"/>
              </a:lnSpc>
            </a:pPr>
            <a:r>
              <a:rPr lang="en-US" sz="293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Nicolás Fernández</a:t>
            </a:r>
          </a:p>
          <a:p>
            <a:pPr algn="ctr">
              <a:lnSpc>
                <a:spcPts val="4112"/>
              </a:lnSpc>
              <a:spcBef>
                <a:spcPct val="0"/>
              </a:spcBef>
            </a:pPr>
            <a:r>
              <a:rPr lang="en-US" sz="293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Carlos Hernández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08554" y="4559317"/>
            <a:ext cx="3803572" cy="901085"/>
            <a:chOff x="0" y="0"/>
            <a:chExt cx="861281" cy="204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61281" cy="204042"/>
            </a:xfrm>
            <a:custGeom>
              <a:avLst/>
              <a:gdLst/>
              <a:ahLst/>
              <a:cxnLst/>
              <a:rect r="r" b="b" t="t" l="l"/>
              <a:pathLst>
                <a:path h="204042" w="861281">
                  <a:moveTo>
                    <a:pt x="0" y="0"/>
                  </a:moveTo>
                  <a:lnTo>
                    <a:pt x="861281" y="0"/>
                  </a:lnTo>
                  <a:lnTo>
                    <a:pt x="861281" y="204042"/>
                  </a:lnTo>
                  <a:lnTo>
                    <a:pt x="0" y="204042"/>
                  </a:lnTo>
                  <a:close/>
                </a:path>
              </a:pathLst>
            </a:custGeom>
            <a:solidFill>
              <a:srgbClr val="25486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61281" cy="261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Nicolás Amarilla</a:t>
              </a:r>
            </a:p>
            <a:p>
              <a:pPr algn="ctr">
                <a:lnSpc>
                  <a:spcPts val="2940"/>
                </a:lnSpc>
              </a:pPr>
              <a:r>
                <a:rPr lang="en-US" b="true" sz="2100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Data Engineer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24627" y="8674117"/>
            <a:ext cx="3803572" cy="901085"/>
            <a:chOff x="0" y="0"/>
            <a:chExt cx="861281" cy="2040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61281" cy="204042"/>
            </a:xfrm>
            <a:custGeom>
              <a:avLst/>
              <a:gdLst/>
              <a:ahLst/>
              <a:cxnLst/>
              <a:rect r="r" b="b" t="t" l="l"/>
              <a:pathLst>
                <a:path h="204042" w="861281">
                  <a:moveTo>
                    <a:pt x="0" y="0"/>
                  </a:moveTo>
                  <a:lnTo>
                    <a:pt x="861281" y="0"/>
                  </a:lnTo>
                  <a:lnTo>
                    <a:pt x="861281" y="204042"/>
                  </a:lnTo>
                  <a:lnTo>
                    <a:pt x="0" y="204042"/>
                  </a:lnTo>
                  <a:close/>
                </a:path>
              </a:pathLst>
            </a:custGeom>
            <a:solidFill>
              <a:srgbClr val="254865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61281" cy="261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Carlos Hernández</a:t>
              </a:r>
            </a:p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Data Scientist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24627" y="4559317"/>
            <a:ext cx="3803572" cy="901085"/>
            <a:chOff x="0" y="0"/>
            <a:chExt cx="861281" cy="2040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1281" cy="204042"/>
            </a:xfrm>
            <a:custGeom>
              <a:avLst/>
              <a:gdLst/>
              <a:ahLst/>
              <a:cxnLst/>
              <a:rect r="r" b="b" t="t" l="l"/>
              <a:pathLst>
                <a:path h="204042" w="861281">
                  <a:moveTo>
                    <a:pt x="0" y="0"/>
                  </a:moveTo>
                  <a:lnTo>
                    <a:pt x="861281" y="0"/>
                  </a:lnTo>
                  <a:lnTo>
                    <a:pt x="861281" y="204042"/>
                  </a:lnTo>
                  <a:lnTo>
                    <a:pt x="0" y="204042"/>
                  </a:lnTo>
                  <a:close/>
                </a:path>
              </a:pathLst>
            </a:custGeom>
            <a:solidFill>
              <a:srgbClr val="254865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861281" cy="261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Nicolás Djandjikian</a:t>
              </a:r>
            </a:p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Reporting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108554" y="8674117"/>
            <a:ext cx="3803572" cy="901085"/>
            <a:chOff x="0" y="0"/>
            <a:chExt cx="861281" cy="2040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61281" cy="204042"/>
            </a:xfrm>
            <a:custGeom>
              <a:avLst/>
              <a:gdLst/>
              <a:ahLst/>
              <a:cxnLst/>
              <a:rect r="r" b="b" t="t" l="l"/>
              <a:pathLst>
                <a:path h="204042" w="861281">
                  <a:moveTo>
                    <a:pt x="0" y="0"/>
                  </a:moveTo>
                  <a:lnTo>
                    <a:pt x="861281" y="0"/>
                  </a:lnTo>
                  <a:lnTo>
                    <a:pt x="861281" y="204042"/>
                  </a:lnTo>
                  <a:lnTo>
                    <a:pt x="0" y="204042"/>
                  </a:lnTo>
                  <a:close/>
                </a:path>
              </a:pathLst>
            </a:custGeom>
            <a:solidFill>
              <a:srgbClr val="254865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61281" cy="261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Nicolás Fernández</a:t>
              </a:r>
            </a:p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Project Leader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4124861" y="2435857"/>
            <a:ext cx="1770960" cy="1780673"/>
          </a:xfrm>
          <a:custGeom>
            <a:avLst/>
            <a:gdLst/>
            <a:ahLst/>
            <a:cxnLst/>
            <a:rect r="r" b="b" t="t" l="l"/>
            <a:pathLst>
              <a:path h="1780673" w="1770960">
                <a:moveTo>
                  <a:pt x="0" y="0"/>
                </a:moveTo>
                <a:lnTo>
                  <a:pt x="1770960" y="0"/>
                </a:lnTo>
                <a:lnTo>
                  <a:pt x="1770960" y="1780673"/>
                </a:lnTo>
                <a:lnTo>
                  <a:pt x="0" y="17806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436077" y="6677471"/>
            <a:ext cx="1777435" cy="1780673"/>
          </a:xfrm>
          <a:custGeom>
            <a:avLst/>
            <a:gdLst/>
            <a:ahLst/>
            <a:cxnLst/>
            <a:rect r="r" b="b" t="t" l="l"/>
            <a:pathLst>
              <a:path h="1780673" w="1777435">
                <a:moveTo>
                  <a:pt x="0" y="0"/>
                </a:moveTo>
                <a:lnTo>
                  <a:pt x="1777435" y="0"/>
                </a:lnTo>
                <a:lnTo>
                  <a:pt x="1777435" y="1780673"/>
                </a:lnTo>
                <a:lnTo>
                  <a:pt x="0" y="17806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436077" y="2435857"/>
            <a:ext cx="1780673" cy="1780673"/>
          </a:xfrm>
          <a:custGeom>
            <a:avLst/>
            <a:gdLst/>
            <a:ahLst/>
            <a:cxnLst/>
            <a:rect r="r" b="b" t="t" l="l"/>
            <a:pathLst>
              <a:path h="1780673" w="1780673">
                <a:moveTo>
                  <a:pt x="0" y="0"/>
                </a:moveTo>
                <a:lnTo>
                  <a:pt x="1780673" y="0"/>
                </a:lnTo>
                <a:lnTo>
                  <a:pt x="1780673" y="1780673"/>
                </a:lnTo>
                <a:lnTo>
                  <a:pt x="0" y="17806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115148" y="6677471"/>
            <a:ext cx="1780673" cy="1780673"/>
          </a:xfrm>
          <a:custGeom>
            <a:avLst/>
            <a:gdLst/>
            <a:ahLst/>
            <a:cxnLst/>
            <a:rect r="r" b="b" t="t" l="l"/>
            <a:pathLst>
              <a:path h="1780673" w="1780673">
                <a:moveTo>
                  <a:pt x="0" y="0"/>
                </a:moveTo>
                <a:lnTo>
                  <a:pt x="1780673" y="0"/>
                </a:lnTo>
                <a:lnTo>
                  <a:pt x="1780673" y="1780673"/>
                </a:lnTo>
                <a:lnTo>
                  <a:pt x="0" y="17806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410048" y="661058"/>
            <a:ext cx="5467904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6999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Our Team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8829" y="1028700"/>
            <a:ext cx="5672030" cy="4114800"/>
          </a:xfrm>
          <a:custGeom>
            <a:avLst/>
            <a:gdLst/>
            <a:ahLst/>
            <a:cxnLst/>
            <a:rect r="r" b="b" t="t" l="l"/>
            <a:pathLst>
              <a:path h="4114800" w="5672030">
                <a:moveTo>
                  <a:pt x="0" y="0"/>
                </a:moveTo>
                <a:lnTo>
                  <a:pt x="5672030" y="0"/>
                </a:lnTo>
                <a:lnTo>
                  <a:pt x="56720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87833" y="5787173"/>
            <a:ext cx="4254023" cy="4114800"/>
          </a:xfrm>
          <a:custGeom>
            <a:avLst/>
            <a:gdLst/>
            <a:ahLst/>
            <a:cxnLst/>
            <a:rect r="r" b="b" t="t" l="l"/>
            <a:pathLst>
              <a:path h="4114800" w="4254023">
                <a:moveTo>
                  <a:pt x="0" y="0"/>
                </a:moveTo>
                <a:lnTo>
                  <a:pt x="4254022" y="0"/>
                </a:lnTo>
                <a:lnTo>
                  <a:pt x="42540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845862" y="2215465"/>
            <a:ext cx="5467904" cy="861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Problematica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3455185"/>
            <a:ext cx="8115300" cy="544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La indust</a:t>
            </a:r>
            <a:r>
              <a:rPr lang="en-US"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ria inmobiliaria enfrenta una paradoja crítica: mientras el volumen de datos disponibles crece exponencialmente, la toma de decisiones sigue dependiendo de métodos tradicionales que generan ineficiencias operativas y comerciales significativas.</a:t>
            </a:r>
          </a:p>
          <a:p>
            <a:pPr algn="l">
              <a:lnSpc>
                <a:spcPts val="3359"/>
              </a:lnSpc>
            </a:pP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Los procesos de valuación convencionales requieren entre 15 y 30 días para completarse, con márgenes de error que oscilan entre el 15% y 25% del valor real de la propiedad. Esta imprecisión no solo afecta la competitividad de los precios de captación, sino que genera pérdida de oportunidades comerciales y desconfianza en el mercado.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8829" y="1028700"/>
            <a:ext cx="5672030" cy="4114800"/>
          </a:xfrm>
          <a:custGeom>
            <a:avLst/>
            <a:gdLst/>
            <a:ahLst/>
            <a:cxnLst/>
            <a:rect r="r" b="b" t="t" l="l"/>
            <a:pathLst>
              <a:path h="4114800" w="5672030">
                <a:moveTo>
                  <a:pt x="0" y="0"/>
                </a:moveTo>
                <a:lnTo>
                  <a:pt x="5672030" y="0"/>
                </a:lnTo>
                <a:lnTo>
                  <a:pt x="56720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87833" y="5787173"/>
            <a:ext cx="4254023" cy="4114800"/>
          </a:xfrm>
          <a:custGeom>
            <a:avLst/>
            <a:gdLst/>
            <a:ahLst/>
            <a:cxnLst/>
            <a:rect r="r" b="b" t="t" l="l"/>
            <a:pathLst>
              <a:path h="4114800" w="4254023">
                <a:moveTo>
                  <a:pt x="0" y="0"/>
                </a:moveTo>
                <a:lnTo>
                  <a:pt x="4254022" y="0"/>
                </a:lnTo>
                <a:lnTo>
                  <a:pt x="42540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845862" y="2215465"/>
            <a:ext cx="5467904" cy="861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3455185"/>
            <a:ext cx="8115300" cy="418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Como resultado, las zonas de alto potencial se detectan de manera reactiva, cuando el mercado ya validó su crecimiento y los márgenes de rentabilidad se redujeron considerablemente.</a:t>
            </a:r>
          </a:p>
          <a:p>
            <a:pPr algn="l">
              <a:lnSpc>
                <a:spcPts val="3359"/>
              </a:lnSpc>
            </a:pP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 encuentran consecuencias como ciclos comerciales prolongados, costos operativos elevados en relevamiento manual, y una brecha creciente entre el potencial de los datos disponibles y su aplicación estratégica real.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1323" y="10287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485497" y="1019175"/>
            <a:ext cx="7051756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Estrategia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85497" y="4133850"/>
            <a:ext cx="7773803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Implementación de algoritmo Random Forest que procesa más de 50 variables por propiedad.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85497" y="5661308"/>
            <a:ext cx="7773803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Sistema de clustering K-means que identifica micro-zonas homogéneas según potencial de valorización.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85497" y="3708117"/>
            <a:ext cx="3262814" cy="398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1"/>
              </a:lnSpc>
              <a:spcBef>
                <a:spcPct val="0"/>
              </a:spcBef>
            </a:pPr>
            <a:r>
              <a:rPr lang="en-US" b="true" sz="230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Random Forest.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85497" y="5235575"/>
            <a:ext cx="5627392" cy="398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1"/>
              </a:lnSpc>
              <a:spcBef>
                <a:spcPct val="0"/>
              </a:spcBef>
            </a:pPr>
            <a:r>
              <a:rPr lang="en-US" b="true" sz="230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Segmentación Inteligente de Territorio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85497" y="2258417"/>
            <a:ext cx="7773803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Proponemos un sistema de valuación automatizada basado en inteligencia artificial que transforma datos urbanos y características de propiedades en predicciones accionables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85497" y="7188767"/>
            <a:ext cx="7773803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Visualización integrada en PowerBI con KPIs operativos y comerciales.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85497" y="6763033"/>
            <a:ext cx="6222874" cy="398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1"/>
              </a:lnSpc>
              <a:spcBef>
                <a:spcPct val="0"/>
              </a:spcBef>
            </a:pPr>
            <a:r>
              <a:rPr lang="en-US" b="true" sz="230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Dashboard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90995" y="2622432"/>
            <a:ext cx="9068305" cy="4764982"/>
          </a:xfrm>
          <a:custGeom>
            <a:avLst/>
            <a:gdLst/>
            <a:ahLst/>
            <a:cxnLst/>
            <a:rect r="r" b="b" t="t" l="l"/>
            <a:pathLst>
              <a:path h="4764982" w="9068305">
                <a:moveTo>
                  <a:pt x="0" y="0"/>
                </a:moveTo>
                <a:lnTo>
                  <a:pt x="9068305" y="0"/>
                </a:lnTo>
                <a:lnTo>
                  <a:pt x="9068305" y="4764982"/>
                </a:lnTo>
                <a:lnTo>
                  <a:pt x="0" y="47649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084270"/>
            <a:ext cx="7051756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Estrategias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051684"/>
            <a:ext cx="6222874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Para minimizar el error predictivo en el precio de las propiedades.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462943"/>
            <a:ext cx="5822409" cy="398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1"/>
              </a:lnSpc>
              <a:spcBef>
                <a:spcPct val="0"/>
              </a:spcBef>
            </a:pPr>
            <a:r>
              <a:rPr lang="en-US" b="true" sz="230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Gradient Boosting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886103"/>
            <a:ext cx="6222874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Implementación de modelo de Gradient Boosting para predecir precios de ventas o alquiler de propiedades.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297362"/>
            <a:ext cx="5822409" cy="398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1"/>
              </a:lnSpc>
              <a:spcBef>
                <a:spcPct val="0"/>
              </a:spcBef>
            </a:pPr>
            <a:r>
              <a:rPr lang="en-US" b="true" sz="230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Simulador de precios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13750" y="2766850"/>
            <a:ext cx="2172668" cy="2097613"/>
          </a:xfrm>
          <a:custGeom>
            <a:avLst/>
            <a:gdLst/>
            <a:ahLst/>
            <a:cxnLst/>
            <a:rect r="r" b="b" t="t" l="l"/>
            <a:pathLst>
              <a:path h="2097613" w="2172668">
                <a:moveTo>
                  <a:pt x="0" y="0"/>
                </a:moveTo>
                <a:lnTo>
                  <a:pt x="2172668" y="0"/>
                </a:lnTo>
                <a:lnTo>
                  <a:pt x="2172668" y="2097612"/>
                </a:lnTo>
                <a:lnTo>
                  <a:pt x="0" y="20976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73261" y="6734577"/>
            <a:ext cx="3253646" cy="2413614"/>
          </a:xfrm>
          <a:custGeom>
            <a:avLst/>
            <a:gdLst/>
            <a:ahLst/>
            <a:cxnLst/>
            <a:rect r="r" b="b" t="t" l="l"/>
            <a:pathLst>
              <a:path h="2413614" w="3253646">
                <a:moveTo>
                  <a:pt x="0" y="0"/>
                </a:moveTo>
                <a:lnTo>
                  <a:pt x="3253646" y="0"/>
                </a:lnTo>
                <a:lnTo>
                  <a:pt x="3253646" y="2413614"/>
                </a:lnTo>
                <a:lnTo>
                  <a:pt x="0" y="2413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671374" y="2766850"/>
            <a:ext cx="2662481" cy="2589868"/>
          </a:xfrm>
          <a:custGeom>
            <a:avLst/>
            <a:gdLst/>
            <a:ahLst/>
            <a:cxnLst/>
            <a:rect r="r" b="b" t="t" l="l"/>
            <a:pathLst>
              <a:path h="2589868" w="2662481">
                <a:moveTo>
                  <a:pt x="0" y="0"/>
                </a:moveTo>
                <a:lnTo>
                  <a:pt x="2662481" y="0"/>
                </a:lnTo>
                <a:lnTo>
                  <a:pt x="2662481" y="2589867"/>
                </a:lnTo>
                <a:lnTo>
                  <a:pt x="0" y="25898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64428" y="6232383"/>
            <a:ext cx="3476373" cy="2915808"/>
          </a:xfrm>
          <a:custGeom>
            <a:avLst/>
            <a:gdLst/>
            <a:ahLst/>
            <a:cxnLst/>
            <a:rect r="r" b="b" t="t" l="l"/>
            <a:pathLst>
              <a:path h="2915808" w="3476373">
                <a:moveTo>
                  <a:pt x="0" y="0"/>
                </a:moveTo>
                <a:lnTo>
                  <a:pt x="3476373" y="0"/>
                </a:lnTo>
                <a:lnTo>
                  <a:pt x="3476373" y="2915808"/>
                </a:lnTo>
                <a:lnTo>
                  <a:pt x="0" y="29158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89724" y="460092"/>
            <a:ext cx="15508553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La necesidad de la ingenieria de datos: dianóstico inicial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61897" y="4978762"/>
            <a:ext cx="3476373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Moneda y precio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64428" y="5471017"/>
            <a:ext cx="347637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Geolocalización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73261" y="9262491"/>
            <a:ext cx="347637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Superficie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64428" y="9262491"/>
            <a:ext cx="3476373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Completitud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50747" y="490537"/>
            <a:ext cx="15508553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Calidad con base en la precisión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22784" y="2467610"/>
            <a:ext cx="517936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Estabilización del precio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22784" y="4172109"/>
            <a:ext cx="4645521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Imputación avanzada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322784" y="6267450"/>
            <a:ext cx="493737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Conversión de moneda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22784" y="8650229"/>
            <a:ext cx="435143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Feature engineering</a:t>
            </a:r>
          </a:p>
        </p:txBody>
      </p:sp>
      <p:sp>
        <p:nvSpPr>
          <p:cNvPr name="AutoShape 7" id="7"/>
          <p:cNvSpPr/>
          <p:nvPr/>
        </p:nvSpPr>
        <p:spPr>
          <a:xfrm>
            <a:off x="7512367" y="2833529"/>
            <a:ext cx="3263265" cy="0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>
            <a:off x="7512367" y="4748054"/>
            <a:ext cx="3263265" cy="0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" id="9"/>
          <p:cNvSpPr/>
          <p:nvPr/>
        </p:nvSpPr>
        <p:spPr>
          <a:xfrm>
            <a:off x="7512367" y="6660549"/>
            <a:ext cx="3263265" cy="0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0" id="10"/>
          <p:cNvSpPr/>
          <p:nvPr/>
        </p:nvSpPr>
        <p:spPr>
          <a:xfrm>
            <a:off x="7512367" y="9021386"/>
            <a:ext cx="3263265" cy="0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1" id="11"/>
          <p:cNvSpPr txBox="true"/>
          <p:nvPr/>
        </p:nvSpPr>
        <p:spPr>
          <a:xfrm rot="0">
            <a:off x="12786268" y="1982074"/>
            <a:ext cx="3576348" cy="1465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2"/>
              </a:lnSpc>
            </a:pPr>
            <a:r>
              <a:rPr lang="en-US" sz="279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Corregir sesgos y outliers con un precio normalizado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73788" y="3731974"/>
            <a:ext cx="3785714" cy="207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1"/>
              </a:lnSpc>
            </a:pPr>
            <a:r>
              <a:rPr lang="en-US" sz="29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Restaurar la completitud sin perder la coherencia entre barrios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86268" y="5788282"/>
            <a:ext cx="3770120" cy="206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4"/>
              </a:lnSpc>
            </a:pPr>
            <a:r>
              <a:rPr lang="en-US" sz="294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Eliminamos sesgo de la devaluación y estandarizamos precios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89381" y="8135998"/>
            <a:ext cx="3963893" cy="161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6"/>
              </a:lnSpc>
            </a:pPr>
            <a:r>
              <a:rPr lang="en-US" sz="309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Permitir que el modelo entienda mejor cada feature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48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165904" cy="10287000"/>
            <a:chOff x="0" y="0"/>
            <a:chExt cx="2424022" cy="3479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4022" cy="3479800"/>
            </a:xfrm>
            <a:custGeom>
              <a:avLst/>
              <a:gdLst/>
              <a:ahLst/>
              <a:cxnLst/>
              <a:rect r="r" b="b" t="t" l="l"/>
              <a:pathLst>
                <a:path h="3479800" w="2424022">
                  <a:moveTo>
                    <a:pt x="0" y="0"/>
                  </a:moveTo>
                  <a:lnTo>
                    <a:pt x="2424022" y="0"/>
                  </a:lnTo>
                  <a:lnTo>
                    <a:pt x="2424022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4" id="4"/>
          <p:cNvSpPr/>
          <p:nvPr/>
        </p:nvSpPr>
        <p:spPr>
          <a:xfrm>
            <a:off x="8139982" y="7356425"/>
            <a:ext cx="9041249" cy="0"/>
          </a:xfrm>
          <a:prstGeom prst="line">
            <a:avLst/>
          </a:prstGeom>
          <a:ln cap="rnd" w="2952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9605216" y="7356425"/>
            <a:ext cx="0" cy="414073"/>
          </a:xfrm>
          <a:prstGeom prst="line">
            <a:avLst/>
          </a:prstGeom>
          <a:ln cap="rnd" w="762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" id="6"/>
          <p:cNvSpPr/>
          <p:nvPr/>
        </p:nvSpPr>
        <p:spPr>
          <a:xfrm>
            <a:off x="15971882" y="7356425"/>
            <a:ext cx="0" cy="414073"/>
          </a:xfrm>
          <a:prstGeom prst="line">
            <a:avLst/>
          </a:prstGeom>
          <a:ln cap="rnd" w="762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7471200" y="2195041"/>
            <a:ext cx="4578861" cy="4280944"/>
          </a:xfrm>
          <a:custGeom>
            <a:avLst/>
            <a:gdLst/>
            <a:ahLst/>
            <a:cxnLst/>
            <a:rect r="r" b="b" t="t" l="l"/>
            <a:pathLst>
              <a:path h="4280944" w="4578861">
                <a:moveTo>
                  <a:pt x="0" y="0"/>
                </a:moveTo>
                <a:lnTo>
                  <a:pt x="4578861" y="0"/>
                </a:lnTo>
                <a:lnTo>
                  <a:pt x="4578861" y="4280943"/>
                </a:lnTo>
                <a:lnTo>
                  <a:pt x="0" y="428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302894" y="2175369"/>
            <a:ext cx="4655613" cy="4280944"/>
          </a:xfrm>
          <a:custGeom>
            <a:avLst/>
            <a:gdLst/>
            <a:ahLst/>
            <a:cxnLst/>
            <a:rect r="r" b="b" t="t" l="l"/>
            <a:pathLst>
              <a:path h="4280944" w="4655613">
                <a:moveTo>
                  <a:pt x="0" y="0"/>
                </a:moveTo>
                <a:lnTo>
                  <a:pt x="4655614" y="0"/>
                </a:lnTo>
                <a:lnTo>
                  <a:pt x="4655614" y="4280943"/>
                </a:lnTo>
                <a:lnTo>
                  <a:pt x="0" y="42809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94353" y="1805479"/>
            <a:ext cx="6392511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Modelo Random Forest y k-means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4353" y="4278363"/>
            <a:ext cx="5724014" cy="293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30"/>
              </a:lnSpc>
              <a:spcBef>
                <a:spcPct val="0"/>
              </a:spcBef>
            </a:pPr>
            <a:r>
              <a:rPr lang="en-US" sz="23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Utilizamos 2 modelos, Random Forest para determinar las variables que más importan a la hora de la predicción, y también utilizamos K-means para encontrar propiedades a un precio elevado o justo teniendo en cuenta las variables mas importantes.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31620" y="7786620"/>
            <a:ext cx="294719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Random forest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498287" y="7786620"/>
            <a:ext cx="294719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Kmeans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305835" cy="10287000"/>
            <a:chOff x="0" y="0"/>
            <a:chExt cx="166079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07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60796">
                  <a:moveTo>
                    <a:pt x="0" y="0"/>
                  </a:moveTo>
                  <a:lnTo>
                    <a:pt x="1660796" y="0"/>
                  </a:lnTo>
                  <a:lnTo>
                    <a:pt x="16607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486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660796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96290" y="1738040"/>
            <a:ext cx="4913256" cy="2374288"/>
            <a:chOff x="0" y="0"/>
            <a:chExt cx="1294026" cy="6253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4026" cy="625327"/>
            </a:xfrm>
            <a:custGeom>
              <a:avLst/>
              <a:gdLst/>
              <a:ahLst/>
              <a:cxnLst/>
              <a:rect r="r" b="b" t="t" l="l"/>
              <a:pathLst>
                <a:path h="625327" w="1294026">
                  <a:moveTo>
                    <a:pt x="0" y="0"/>
                  </a:moveTo>
                  <a:lnTo>
                    <a:pt x="1294026" y="0"/>
                  </a:lnTo>
                  <a:lnTo>
                    <a:pt x="1294026" y="625327"/>
                  </a:lnTo>
                  <a:lnTo>
                    <a:pt x="0" y="6253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294026" cy="634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6720"/>
                </a:lnSpc>
                <a:spcBef>
                  <a:spcPct val="0"/>
                </a:spcBef>
              </a:pPr>
              <a:r>
                <a:rPr lang="en-US" b="true" sz="5600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Resultados del modelo.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760937" y="1028700"/>
            <a:ext cx="10498363" cy="8031248"/>
          </a:xfrm>
          <a:custGeom>
            <a:avLst/>
            <a:gdLst/>
            <a:ahLst/>
            <a:cxnLst/>
            <a:rect r="r" b="b" t="t" l="l"/>
            <a:pathLst>
              <a:path h="8031248" w="10498363">
                <a:moveTo>
                  <a:pt x="0" y="0"/>
                </a:moveTo>
                <a:lnTo>
                  <a:pt x="10498363" y="0"/>
                </a:lnTo>
                <a:lnTo>
                  <a:pt x="10498363" y="8031248"/>
                </a:lnTo>
                <a:lnTo>
                  <a:pt x="0" y="80312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7469" y="5660678"/>
            <a:ext cx="5890897" cy="87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5"/>
              </a:lnSpc>
            </a:pPr>
            <a:r>
              <a:rPr lang="en-US" sz="2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Encontramos en los resultados lo siguiente:</a:t>
            </a:r>
          </a:p>
          <a:p>
            <a:pPr algn="l" marL="496571" indent="-248285" lvl="1">
              <a:lnSpc>
                <a:spcPts val="3565"/>
              </a:lnSpc>
              <a:buAutoNum type="arabicPeriod" startAt="1"/>
            </a:pPr>
            <a:r>
              <a:rPr lang="en-US" sz="2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Top mejores ubicaciones.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305835" cy="10287000"/>
            <a:chOff x="0" y="0"/>
            <a:chExt cx="166079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07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60796">
                  <a:moveTo>
                    <a:pt x="0" y="0"/>
                  </a:moveTo>
                  <a:lnTo>
                    <a:pt x="1660796" y="0"/>
                  </a:lnTo>
                  <a:lnTo>
                    <a:pt x="16607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486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660796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96290" y="1738040"/>
            <a:ext cx="4913256" cy="2374288"/>
            <a:chOff x="0" y="0"/>
            <a:chExt cx="1294026" cy="6253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4026" cy="625327"/>
            </a:xfrm>
            <a:custGeom>
              <a:avLst/>
              <a:gdLst/>
              <a:ahLst/>
              <a:cxnLst/>
              <a:rect r="r" b="b" t="t" l="l"/>
              <a:pathLst>
                <a:path h="625327" w="1294026">
                  <a:moveTo>
                    <a:pt x="0" y="0"/>
                  </a:moveTo>
                  <a:lnTo>
                    <a:pt x="1294026" y="0"/>
                  </a:lnTo>
                  <a:lnTo>
                    <a:pt x="1294026" y="625327"/>
                  </a:lnTo>
                  <a:lnTo>
                    <a:pt x="0" y="6253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294026" cy="634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6720"/>
                </a:lnSpc>
                <a:spcBef>
                  <a:spcPct val="0"/>
                </a:spcBef>
              </a:pPr>
              <a:r>
                <a:rPr lang="en-US" b="true" sz="5600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Resultados del modelo.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232165" y="1565066"/>
            <a:ext cx="10027135" cy="7156868"/>
          </a:xfrm>
          <a:custGeom>
            <a:avLst/>
            <a:gdLst/>
            <a:ahLst/>
            <a:cxnLst/>
            <a:rect r="r" b="b" t="t" l="l"/>
            <a:pathLst>
              <a:path h="7156868" w="10027135">
                <a:moveTo>
                  <a:pt x="0" y="0"/>
                </a:moveTo>
                <a:lnTo>
                  <a:pt x="10027135" y="0"/>
                </a:lnTo>
                <a:lnTo>
                  <a:pt x="10027135" y="7156868"/>
                </a:lnTo>
                <a:lnTo>
                  <a:pt x="0" y="71568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7469" y="5660678"/>
            <a:ext cx="5890897" cy="87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5"/>
              </a:lnSpc>
            </a:pPr>
            <a:r>
              <a:rPr lang="en-US" sz="2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Encontramos en los resultados lo siguiente:</a:t>
            </a:r>
          </a:p>
          <a:p>
            <a:pPr algn="l">
              <a:lnSpc>
                <a:spcPts val="3565"/>
              </a:lnSpc>
            </a:pPr>
            <a:r>
              <a:rPr lang="en-US" sz="2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   2. Top peores ubicaciones.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305835" cy="10287000"/>
            <a:chOff x="0" y="0"/>
            <a:chExt cx="166079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07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60796">
                  <a:moveTo>
                    <a:pt x="0" y="0"/>
                  </a:moveTo>
                  <a:lnTo>
                    <a:pt x="1660796" y="0"/>
                  </a:lnTo>
                  <a:lnTo>
                    <a:pt x="16607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486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660796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96290" y="1738040"/>
            <a:ext cx="4913256" cy="2374288"/>
            <a:chOff x="0" y="0"/>
            <a:chExt cx="1294026" cy="6253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4026" cy="625327"/>
            </a:xfrm>
            <a:custGeom>
              <a:avLst/>
              <a:gdLst/>
              <a:ahLst/>
              <a:cxnLst/>
              <a:rect r="r" b="b" t="t" l="l"/>
              <a:pathLst>
                <a:path h="625327" w="1294026">
                  <a:moveTo>
                    <a:pt x="0" y="0"/>
                  </a:moveTo>
                  <a:lnTo>
                    <a:pt x="1294026" y="0"/>
                  </a:lnTo>
                  <a:lnTo>
                    <a:pt x="1294026" y="625327"/>
                  </a:lnTo>
                  <a:lnTo>
                    <a:pt x="0" y="6253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294026" cy="634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6720"/>
                </a:lnSpc>
                <a:spcBef>
                  <a:spcPct val="0"/>
                </a:spcBef>
              </a:pPr>
              <a:r>
                <a:rPr lang="en-US" b="true" sz="5600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Resultados del modelo.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305835" y="1028700"/>
            <a:ext cx="11791010" cy="8754825"/>
          </a:xfrm>
          <a:custGeom>
            <a:avLst/>
            <a:gdLst/>
            <a:ahLst/>
            <a:cxnLst/>
            <a:rect r="r" b="b" t="t" l="l"/>
            <a:pathLst>
              <a:path h="8754825" w="11791010">
                <a:moveTo>
                  <a:pt x="0" y="0"/>
                </a:moveTo>
                <a:lnTo>
                  <a:pt x="11791011" y="0"/>
                </a:lnTo>
                <a:lnTo>
                  <a:pt x="11791011" y="8754825"/>
                </a:lnTo>
                <a:lnTo>
                  <a:pt x="0" y="8754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7469" y="5660678"/>
            <a:ext cx="5890897" cy="87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5"/>
              </a:lnSpc>
            </a:pPr>
            <a:r>
              <a:rPr lang="en-US" sz="2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Encontramos en los resultados lo siguiente:</a:t>
            </a:r>
          </a:p>
          <a:p>
            <a:pPr algn="l">
              <a:lnSpc>
                <a:spcPts val="3565"/>
              </a:lnSpc>
            </a:pPr>
            <a:r>
              <a:rPr lang="en-US" sz="2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2. Segmentación de K-means.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305835" cy="10287000"/>
            <a:chOff x="0" y="0"/>
            <a:chExt cx="166079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07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60796">
                  <a:moveTo>
                    <a:pt x="0" y="0"/>
                  </a:moveTo>
                  <a:lnTo>
                    <a:pt x="1660796" y="0"/>
                  </a:lnTo>
                  <a:lnTo>
                    <a:pt x="16607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486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660796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96290" y="1738040"/>
            <a:ext cx="4913256" cy="2374288"/>
            <a:chOff x="0" y="0"/>
            <a:chExt cx="1294026" cy="6253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4026" cy="625327"/>
            </a:xfrm>
            <a:custGeom>
              <a:avLst/>
              <a:gdLst/>
              <a:ahLst/>
              <a:cxnLst/>
              <a:rect r="r" b="b" t="t" l="l"/>
              <a:pathLst>
                <a:path h="625327" w="1294026">
                  <a:moveTo>
                    <a:pt x="0" y="0"/>
                  </a:moveTo>
                  <a:lnTo>
                    <a:pt x="1294026" y="0"/>
                  </a:lnTo>
                  <a:lnTo>
                    <a:pt x="1294026" y="625327"/>
                  </a:lnTo>
                  <a:lnTo>
                    <a:pt x="0" y="6253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294026" cy="634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6720"/>
                </a:lnSpc>
                <a:spcBef>
                  <a:spcPct val="0"/>
                </a:spcBef>
              </a:pPr>
              <a:r>
                <a:rPr lang="en-US" b="true" sz="5600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Resultados del modelo.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970188" y="5098969"/>
            <a:ext cx="7304926" cy="4935466"/>
          </a:xfrm>
          <a:custGeom>
            <a:avLst/>
            <a:gdLst/>
            <a:ahLst/>
            <a:cxnLst/>
            <a:rect r="r" b="b" t="t" l="l"/>
            <a:pathLst>
              <a:path h="4935466" w="7304926">
                <a:moveTo>
                  <a:pt x="0" y="0"/>
                </a:moveTo>
                <a:lnTo>
                  <a:pt x="7304925" y="0"/>
                </a:lnTo>
                <a:lnTo>
                  <a:pt x="7304925" y="4935466"/>
                </a:lnTo>
                <a:lnTo>
                  <a:pt x="0" y="4935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970188" y="0"/>
            <a:ext cx="7304926" cy="5143500"/>
          </a:xfrm>
          <a:custGeom>
            <a:avLst/>
            <a:gdLst/>
            <a:ahLst/>
            <a:cxnLst/>
            <a:rect r="r" b="b" t="t" l="l"/>
            <a:pathLst>
              <a:path h="5143500" w="7304926">
                <a:moveTo>
                  <a:pt x="0" y="0"/>
                </a:moveTo>
                <a:lnTo>
                  <a:pt x="7304925" y="0"/>
                </a:lnTo>
                <a:lnTo>
                  <a:pt x="7304925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7469" y="5660678"/>
            <a:ext cx="5890897" cy="87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5"/>
              </a:lnSpc>
            </a:pPr>
            <a:r>
              <a:rPr lang="en-US" sz="2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Encontramos en los resultados lo siguiente:</a:t>
            </a:r>
          </a:p>
          <a:p>
            <a:pPr algn="l">
              <a:lnSpc>
                <a:spcPts val="3565"/>
              </a:lnSpc>
            </a:pPr>
            <a:r>
              <a:rPr lang="en-US" sz="2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   4. Codo y Silhouette score por K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305835" cy="10287000"/>
            <a:chOff x="0" y="0"/>
            <a:chExt cx="166079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07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60796">
                  <a:moveTo>
                    <a:pt x="0" y="0"/>
                  </a:moveTo>
                  <a:lnTo>
                    <a:pt x="1660796" y="0"/>
                  </a:lnTo>
                  <a:lnTo>
                    <a:pt x="16607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486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660796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96290" y="1738040"/>
            <a:ext cx="4913256" cy="2374288"/>
            <a:chOff x="0" y="0"/>
            <a:chExt cx="1294026" cy="6253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4026" cy="625327"/>
            </a:xfrm>
            <a:custGeom>
              <a:avLst/>
              <a:gdLst/>
              <a:ahLst/>
              <a:cxnLst/>
              <a:rect r="r" b="b" t="t" l="l"/>
              <a:pathLst>
                <a:path h="625327" w="1294026">
                  <a:moveTo>
                    <a:pt x="0" y="0"/>
                  </a:moveTo>
                  <a:lnTo>
                    <a:pt x="1294026" y="0"/>
                  </a:lnTo>
                  <a:lnTo>
                    <a:pt x="1294026" y="625327"/>
                  </a:lnTo>
                  <a:lnTo>
                    <a:pt x="0" y="6253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294026" cy="634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6720"/>
                </a:lnSpc>
                <a:spcBef>
                  <a:spcPct val="0"/>
                </a:spcBef>
              </a:pPr>
              <a:r>
                <a:rPr lang="en-US" b="true" sz="5600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Resultados del modelo.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305835" y="1028700"/>
            <a:ext cx="11840909" cy="7844602"/>
          </a:xfrm>
          <a:custGeom>
            <a:avLst/>
            <a:gdLst/>
            <a:ahLst/>
            <a:cxnLst/>
            <a:rect r="r" b="b" t="t" l="l"/>
            <a:pathLst>
              <a:path h="7844602" w="11840909">
                <a:moveTo>
                  <a:pt x="0" y="0"/>
                </a:moveTo>
                <a:lnTo>
                  <a:pt x="11840909" y="0"/>
                </a:lnTo>
                <a:lnTo>
                  <a:pt x="11840909" y="7844602"/>
                </a:lnTo>
                <a:lnTo>
                  <a:pt x="0" y="78446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7469" y="5660678"/>
            <a:ext cx="5890897" cy="87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5"/>
              </a:lnSpc>
            </a:pPr>
            <a:r>
              <a:rPr lang="en-US" sz="2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Encontramos en los resultados lo siguiente:</a:t>
            </a:r>
          </a:p>
          <a:p>
            <a:pPr algn="l">
              <a:lnSpc>
                <a:spcPts val="3565"/>
              </a:lnSpc>
            </a:pPr>
            <a:r>
              <a:rPr lang="en-US" sz="2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   5. Resultados Random forest.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ABA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053647" y="5130581"/>
            <a:ext cx="6349365" cy="0"/>
          </a:xfrm>
          <a:prstGeom prst="line">
            <a:avLst/>
          </a:prstGeom>
          <a:ln cap="flat" w="1428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5400000">
            <a:off x="2855844" y="5304946"/>
            <a:ext cx="1537577" cy="445897"/>
          </a:xfrm>
          <a:custGeom>
            <a:avLst/>
            <a:gdLst/>
            <a:ahLst/>
            <a:cxnLst/>
            <a:rect r="r" b="b" t="t" l="l"/>
            <a:pathLst>
              <a:path h="445897" w="1537577">
                <a:moveTo>
                  <a:pt x="0" y="0"/>
                </a:moveTo>
                <a:lnTo>
                  <a:pt x="1537577" y="0"/>
                </a:lnTo>
                <a:lnTo>
                  <a:pt x="1537577" y="445897"/>
                </a:lnTo>
                <a:lnTo>
                  <a:pt x="0" y="445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05880" y="4514078"/>
            <a:ext cx="1237504" cy="1233004"/>
          </a:xfrm>
          <a:custGeom>
            <a:avLst/>
            <a:gdLst/>
            <a:ahLst/>
            <a:cxnLst/>
            <a:rect r="r" b="b" t="t" l="l"/>
            <a:pathLst>
              <a:path h="1233004" w="1237504">
                <a:moveTo>
                  <a:pt x="0" y="0"/>
                </a:moveTo>
                <a:lnTo>
                  <a:pt x="1237505" y="0"/>
                </a:lnTo>
                <a:lnTo>
                  <a:pt x="1237505" y="1233005"/>
                </a:lnTo>
                <a:lnTo>
                  <a:pt x="0" y="12330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8789880" y="5130581"/>
            <a:ext cx="6806565" cy="0"/>
          </a:xfrm>
          <a:prstGeom prst="line">
            <a:avLst/>
          </a:prstGeom>
          <a:ln cap="flat" w="1428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-5400000">
            <a:off x="4686484" y="4536157"/>
            <a:ext cx="1537577" cy="445897"/>
          </a:xfrm>
          <a:custGeom>
            <a:avLst/>
            <a:gdLst/>
            <a:ahLst/>
            <a:cxnLst/>
            <a:rect r="r" b="b" t="t" l="l"/>
            <a:pathLst>
              <a:path h="445897" w="1537577">
                <a:moveTo>
                  <a:pt x="0" y="0"/>
                </a:moveTo>
                <a:lnTo>
                  <a:pt x="1537577" y="0"/>
                </a:lnTo>
                <a:lnTo>
                  <a:pt x="1537577" y="445897"/>
                </a:lnTo>
                <a:lnTo>
                  <a:pt x="0" y="445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45669" y="4514078"/>
            <a:ext cx="1237504" cy="1233004"/>
          </a:xfrm>
          <a:custGeom>
            <a:avLst/>
            <a:gdLst/>
            <a:ahLst/>
            <a:cxnLst/>
            <a:rect r="r" b="b" t="t" l="l"/>
            <a:pathLst>
              <a:path h="1233004" w="1237504">
                <a:moveTo>
                  <a:pt x="0" y="0"/>
                </a:moveTo>
                <a:lnTo>
                  <a:pt x="1237505" y="0"/>
                </a:lnTo>
                <a:lnTo>
                  <a:pt x="1237505" y="1233005"/>
                </a:lnTo>
                <a:lnTo>
                  <a:pt x="0" y="12330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6526273" y="5304946"/>
            <a:ext cx="1537577" cy="445897"/>
          </a:xfrm>
          <a:custGeom>
            <a:avLst/>
            <a:gdLst/>
            <a:ahLst/>
            <a:cxnLst/>
            <a:rect r="r" b="b" t="t" l="l"/>
            <a:pathLst>
              <a:path h="445897" w="1537577">
                <a:moveTo>
                  <a:pt x="0" y="0"/>
                </a:moveTo>
                <a:lnTo>
                  <a:pt x="1537578" y="0"/>
                </a:lnTo>
                <a:lnTo>
                  <a:pt x="1537578" y="445897"/>
                </a:lnTo>
                <a:lnTo>
                  <a:pt x="0" y="445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685459" y="4514078"/>
            <a:ext cx="1237504" cy="1233004"/>
          </a:xfrm>
          <a:custGeom>
            <a:avLst/>
            <a:gdLst/>
            <a:ahLst/>
            <a:cxnLst/>
            <a:rect r="r" b="b" t="t" l="l"/>
            <a:pathLst>
              <a:path h="1233004" w="1237504">
                <a:moveTo>
                  <a:pt x="0" y="0"/>
                </a:moveTo>
                <a:lnTo>
                  <a:pt x="1237504" y="0"/>
                </a:lnTo>
                <a:lnTo>
                  <a:pt x="1237504" y="1233005"/>
                </a:lnTo>
                <a:lnTo>
                  <a:pt x="0" y="12330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8354125" y="4536157"/>
            <a:ext cx="1537577" cy="445897"/>
          </a:xfrm>
          <a:custGeom>
            <a:avLst/>
            <a:gdLst/>
            <a:ahLst/>
            <a:cxnLst/>
            <a:rect r="r" b="b" t="t" l="l"/>
            <a:pathLst>
              <a:path h="445897" w="1537577">
                <a:moveTo>
                  <a:pt x="0" y="0"/>
                </a:moveTo>
                <a:lnTo>
                  <a:pt x="1537577" y="0"/>
                </a:lnTo>
                <a:lnTo>
                  <a:pt x="1537577" y="445897"/>
                </a:lnTo>
                <a:lnTo>
                  <a:pt x="0" y="445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525248" y="4514078"/>
            <a:ext cx="1237504" cy="1233004"/>
          </a:xfrm>
          <a:custGeom>
            <a:avLst/>
            <a:gdLst/>
            <a:ahLst/>
            <a:cxnLst/>
            <a:rect r="r" b="b" t="t" l="l"/>
            <a:pathLst>
              <a:path h="1233004" w="1237504">
                <a:moveTo>
                  <a:pt x="0" y="0"/>
                </a:moveTo>
                <a:lnTo>
                  <a:pt x="1237504" y="0"/>
                </a:lnTo>
                <a:lnTo>
                  <a:pt x="1237504" y="1233005"/>
                </a:lnTo>
                <a:lnTo>
                  <a:pt x="0" y="12330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400000">
            <a:off x="10241539" y="5304946"/>
            <a:ext cx="1537577" cy="445897"/>
          </a:xfrm>
          <a:custGeom>
            <a:avLst/>
            <a:gdLst/>
            <a:ahLst/>
            <a:cxnLst/>
            <a:rect r="r" b="b" t="t" l="l"/>
            <a:pathLst>
              <a:path h="445897" w="1537577">
                <a:moveTo>
                  <a:pt x="0" y="0"/>
                </a:moveTo>
                <a:lnTo>
                  <a:pt x="1537577" y="0"/>
                </a:lnTo>
                <a:lnTo>
                  <a:pt x="1537577" y="445897"/>
                </a:lnTo>
                <a:lnTo>
                  <a:pt x="0" y="445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365037" y="4514078"/>
            <a:ext cx="1237504" cy="1233004"/>
          </a:xfrm>
          <a:custGeom>
            <a:avLst/>
            <a:gdLst/>
            <a:ahLst/>
            <a:cxnLst/>
            <a:rect r="r" b="b" t="t" l="l"/>
            <a:pathLst>
              <a:path h="1233004" w="1237504">
                <a:moveTo>
                  <a:pt x="0" y="0"/>
                </a:moveTo>
                <a:lnTo>
                  <a:pt x="1237504" y="0"/>
                </a:lnTo>
                <a:lnTo>
                  <a:pt x="1237504" y="1233005"/>
                </a:lnTo>
                <a:lnTo>
                  <a:pt x="0" y="12330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12021765" y="4536157"/>
            <a:ext cx="1537577" cy="445897"/>
          </a:xfrm>
          <a:custGeom>
            <a:avLst/>
            <a:gdLst/>
            <a:ahLst/>
            <a:cxnLst/>
            <a:rect r="r" b="b" t="t" l="l"/>
            <a:pathLst>
              <a:path h="445897" w="1537577">
                <a:moveTo>
                  <a:pt x="0" y="0"/>
                </a:moveTo>
                <a:lnTo>
                  <a:pt x="1537578" y="0"/>
                </a:lnTo>
                <a:lnTo>
                  <a:pt x="1537578" y="445897"/>
                </a:lnTo>
                <a:lnTo>
                  <a:pt x="0" y="445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204826" y="4514078"/>
            <a:ext cx="1237504" cy="1233004"/>
          </a:xfrm>
          <a:custGeom>
            <a:avLst/>
            <a:gdLst/>
            <a:ahLst/>
            <a:cxnLst/>
            <a:rect r="r" b="b" t="t" l="l"/>
            <a:pathLst>
              <a:path h="1233004" w="1237504">
                <a:moveTo>
                  <a:pt x="0" y="0"/>
                </a:moveTo>
                <a:lnTo>
                  <a:pt x="1237505" y="0"/>
                </a:lnTo>
                <a:lnTo>
                  <a:pt x="1237505" y="1233005"/>
                </a:lnTo>
                <a:lnTo>
                  <a:pt x="0" y="12330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400000">
            <a:off x="13925191" y="5304946"/>
            <a:ext cx="1537577" cy="445897"/>
          </a:xfrm>
          <a:custGeom>
            <a:avLst/>
            <a:gdLst/>
            <a:ahLst/>
            <a:cxnLst/>
            <a:rect r="r" b="b" t="t" l="l"/>
            <a:pathLst>
              <a:path h="445897" w="1537577">
                <a:moveTo>
                  <a:pt x="0" y="0"/>
                </a:moveTo>
                <a:lnTo>
                  <a:pt x="1537577" y="0"/>
                </a:lnTo>
                <a:lnTo>
                  <a:pt x="1537577" y="445897"/>
                </a:lnTo>
                <a:lnTo>
                  <a:pt x="0" y="445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044615" y="4514078"/>
            <a:ext cx="1237504" cy="1233004"/>
          </a:xfrm>
          <a:custGeom>
            <a:avLst/>
            <a:gdLst/>
            <a:ahLst/>
            <a:cxnLst/>
            <a:rect r="r" b="b" t="t" l="l"/>
            <a:pathLst>
              <a:path h="1233004" w="1237504">
                <a:moveTo>
                  <a:pt x="0" y="0"/>
                </a:moveTo>
                <a:lnTo>
                  <a:pt x="1237505" y="0"/>
                </a:lnTo>
                <a:lnTo>
                  <a:pt x="1237505" y="1233005"/>
                </a:lnTo>
                <a:lnTo>
                  <a:pt x="0" y="12330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264002" y="582669"/>
            <a:ext cx="7051756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Pipeline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09427" y="6687489"/>
            <a:ext cx="3215383" cy="1577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0"/>
              </a:lnSpc>
            </a:pPr>
            <a:r>
              <a:rPr lang="en-US" sz="22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Tomamos los datos del sistema transaccional propio de la inmobiliaria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847581" y="2309800"/>
            <a:ext cx="3215383" cy="77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0"/>
              </a:lnSpc>
            </a:pPr>
            <a:r>
              <a:rPr lang="en-US" sz="22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Realizamos una limpieza de datos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821103" y="6687489"/>
            <a:ext cx="3215383" cy="1577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0"/>
              </a:lnSpc>
            </a:pPr>
            <a:r>
              <a:rPr lang="en-US" sz="22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Sumamos dataset de Rava Bursatil para enriquecimiento del precio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536308" y="2309800"/>
            <a:ext cx="3215383" cy="117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0"/>
              </a:lnSpc>
            </a:pPr>
            <a:r>
              <a:rPr lang="en-US" sz="22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Generamos un dataset limpio listo para usar en Power BI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75171" y="6687489"/>
            <a:ext cx="3215383" cy="1577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0"/>
              </a:lnSpc>
            </a:pPr>
            <a:r>
              <a:rPr lang="en-US" sz="22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Generamos un dataset de princing para entrenar el modelo de ML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602541" y="2309800"/>
            <a:ext cx="3215383" cy="77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0"/>
              </a:lnSpc>
            </a:pPr>
            <a:r>
              <a:rPr lang="en-US" sz="22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Entrenamos el modelo con “Gradient Boosting”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086288" y="6716155"/>
            <a:ext cx="3215383" cy="77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0"/>
              </a:lnSpc>
            </a:pPr>
            <a:r>
              <a:rPr lang="en-US" sz="22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Simulador de precios listo para usar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48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87300" y="182626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826260"/>
            <a:ext cx="3770653" cy="4114800"/>
          </a:xfrm>
          <a:custGeom>
            <a:avLst/>
            <a:gdLst/>
            <a:ahLst/>
            <a:cxnLst/>
            <a:rect r="r" b="b" t="t" l="l"/>
            <a:pathLst>
              <a:path h="4114800" w="3770653">
                <a:moveTo>
                  <a:pt x="0" y="0"/>
                </a:moveTo>
                <a:lnTo>
                  <a:pt x="3770653" y="0"/>
                </a:lnTo>
                <a:lnTo>
                  <a:pt x="37706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77122" y="1826260"/>
            <a:ext cx="4303835" cy="3771900"/>
          </a:xfrm>
          <a:custGeom>
            <a:avLst/>
            <a:gdLst/>
            <a:ahLst/>
            <a:cxnLst/>
            <a:rect r="r" b="b" t="t" l="l"/>
            <a:pathLst>
              <a:path h="3771900" w="4303835">
                <a:moveTo>
                  <a:pt x="0" y="0"/>
                </a:moveTo>
                <a:lnTo>
                  <a:pt x="4303834" y="0"/>
                </a:lnTo>
                <a:lnTo>
                  <a:pt x="4303834" y="3771900"/>
                </a:lnTo>
                <a:lnTo>
                  <a:pt x="0" y="3771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799110" y="142875"/>
            <a:ext cx="3859857" cy="319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Costos</a:t>
            </a:r>
          </a:p>
          <a:p>
            <a:pPr algn="ctr">
              <a:lnSpc>
                <a:spcPts val="1288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2230100" y="6435363"/>
            <a:ext cx="5029200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.• Mantenimiento: 2–4 horas al mes para parches, monitoreo y copias de seguridad; servicios de alerta opcionales suman USD 0–20/me</a:t>
            </a: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435363"/>
            <a:ext cx="4657725" cy="1981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0"/>
              </a:lnSpc>
              <a:spcBef>
                <a:spcPct val="0"/>
              </a:spcBef>
            </a:pPr>
            <a:r>
              <a:rPr lang="en-US" sz="225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r>
              <a:rPr lang="en-US" b="true" sz="2257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Escenario productivo básico: USD 20–40/mes. Un servidor dedicado de baja capacidad, almacenamiento y entrega del sitio con respaldo sencillo.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77122" y="6435363"/>
            <a:ext cx="4572000" cy="1981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0"/>
              </a:lnSpc>
              <a:spcBef>
                <a:spcPct val="0"/>
              </a:spcBef>
            </a:pPr>
            <a:r>
              <a:rPr lang="en-US" b="true" sz="2257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 Escenario escalable: USD 30–60/mes base, pudiendo subir a ~USD 60–120/mes si se duplican/triplican instancias en picos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2548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39328" y="3826664"/>
            <a:ext cx="7459961" cy="948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35"/>
              </a:lnSpc>
            </a:pPr>
            <a:r>
              <a:rPr lang="en-US" sz="634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Thank You!</a:t>
            </a:r>
          </a:p>
        </p:txBody>
      </p:sp>
      <p:sp>
        <p:nvSpPr>
          <p:cNvPr name="AutoShape 3" id="3"/>
          <p:cNvSpPr/>
          <p:nvPr/>
        </p:nvSpPr>
        <p:spPr>
          <a:xfrm rot="0">
            <a:off x="2039328" y="5119639"/>
            <a:ext cx="7459961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DAG507KKbdU</dc:identifier>
  <dcterms:modified xsi:type="dcterms:W3CDTF">2011-08-01T06:04:30Z</dcterms:modified>
  <cp:revision>1</cp:revision>
  <dc:title>Turquois White Minimalist Modern Presentation</dc:title>
</cp:coreProperties>
</file>